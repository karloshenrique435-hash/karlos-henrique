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0" r:id="rId1"/>
  </p:sldMasterIdLst>
  <p:notesMasterIdLst>
    <p:notesMasterId r:id="rId19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Rockwell" panose="02060603020205020403" pitchFamily="18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7" userDrawn="1">
          <p15:clr>
            <a:srgbClr val="000000"/>
          </p15:clr>
        </p15:guide>
        <p15:guide id="2" pos="15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4660"/>
  </p:normalViewPr>
  <p:slideViewPr>
    <p:cSldViewPr snapToGrid="0">
      <p:cViewPr>
        <p:scale>
          <a:sx n="40" d="100"/>
          <a:sy n="40" d="100"/>
        </p:scale>
        <p:origin x="2682" y="1062"/>
      </p:cViewPr>
      <p:guideLst>
        <p:guide orient="horz" pos="2287"/>
        <p:guide pos="15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133CEE-CCE4-4E46-A250-7767DD0C9698}" type="doc">
      <dgm:prSet loTypeId="urn:microsoft.com/office/officeart/2005/8/layout/hProcess10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AA630A1-A087-4951-BC92-E212DDB6BC54}">
      <dgm:prSet phldrT="[Texto]" phldr="0"/>
      <dgm:spPr/>
      <dgm:t>
        <a:bodyPr/>
        <a:lstStyle/>
        <a:p>
          <a:r>
            <a:rPr lang="pt-BR" dirty="0"/>
            <a:t>inverno</a:t>
          </a:r>
        </a:p>
      </dgm:t>
    </dgm:pt>
    <dgm:pt modelId="{45F52A6B-3434-4E94-BAD6-16FAF13ADD86}" type="parTrans" cxnId="{49AEACB7-0BBB-4420-BFFC-1E35734E3A21}">
      <dgm:prSet/>
      <dgm:spPr/>
      <dgm:t>
        <a:bodyPr/>
        <a:lstStyle/>
        <a:p>
          <a:endParaRPr lang="pt-BR"/>
        </a:p>
      </dgm:t>
    </dgm:pt>
    <dgm:pt modelId="{3492C07D-ADA0-41C2-84A8-1E3F76509457}" type="sibTrans" cxnId="{49AEACB7-0BBB-4420-BFFC-1E35734E3A21}">
      <dgm:prSet/>
      <dgm:spPr/>
      <dgm:t>
        <a:bodyPr/>
        <a:lstStyle/>
        <a:p>
          <a:endParaRPr lang="pt-BR"/>
        </a:p>
      </dgm:t>
    </dgm:pt>
    <dgm:pt modelId="{2F879B66-136E-457F-8146-107AE83D527A}">
      <dgm:prSet phldrT="[Texto]" phldr="0"/>
      <dgm:spPr/>
      <dgm:t>
        <a:bodyPr/>
        <a:lstStyle/>
        <a:p>
          <a:r>
            <a:rPr lang="pt-BR" dirty="0"/>
            <a:t>primavera</a:t>
          </a:r>
        </a:p>
      </dgm:t>
    </dgm:pt>
    <dgm:pt modelId="{AD70541C-77D4-49FD-B529-5C75EC894CCD}" type="parTrans" cxnId="{BFF8856B-B8B7-4D43-9CF1-2886086FA618}">
      <dgm:prSet/>
      <dgm:spPr/>
      <dgm:t>
        <a:bodyPr/>
        <a:lstStyle/>
        <a:p>
          <a:endParaRPr lang="pt-BR"/>
        </a:p>
      </dgm:t>
    </dgm:pt>
    <dgm:pt modelId="{B12DC4EA-531C-4FCF-A3FC-164E49656D26}" type="sibTrans" cxnId="{BFF8856B-B8B7-4D43-9CF1-2886086FA618}">
      <dgm:prSet/>
      <dgm:spPr/>
      <dgm:t>
        <a:bodyPr/>
        <a:lstStyle/>
        <a:p>
          <a:endParaRPr lang="pt-BR"/>
        </a:p>
      </dgm:t>
    </dgm:pt>
    <dgm:pt modelId="{4301EBB6-A262-40A3-BE71-D8845FBB8859}">
      <dgm:prSet phldrT="[Texto]" phldr="0"/>
      <dgm:spPr/>
      <dgm:t>
        <a:bodyPr/>
        <a:lstStyle/>
        <a:p>
          <a:r>
            <a:rPr lang="pt-BR" dirty="0"/>
            <a:t>primavera</a:t>
          </a:r>
        </a:p>
      </dgm:t>
    </dgm:pt>
    <dgm:pt modelId="{1B0852EF-AB02-433B-AF85-0165F0663FAD}" type="parTrans" cxnId="{7BF91405-6ADC-403B-A03A-98218C302685}">
      <dgm:prSet/>
      <dgm:spPr/>
      <dgm:t>
        <a:bodyPr/>
        <a:lstStyle/>
        <a:p>
          <a:endParaRPr lang="pt-BR"/>
        </a:p>
      </dgm:t>
    </dgm:pt>
    <dgm:pt modelId="{E44F3D3E-8628-4F9F-9783-7F591492D425}" type="sibTrans" cxnId="{7BF91405-6ADC-403B-A03A-98218C302685}">
      <dgm:prSet/>
      <dgm:spPr/>
      <dgm:t>
        <a:bodyPr/>
        <a:lstStyle/>
        <a:p>
          <a:endParaRPr lang="pt-BR"/>
        </a:p>
      </dgm:t>
    </dgm:pt>
    <dgm:pt modelId="{3CB9E504-5663-4053-A1FC-542E412B8585}">
      <dgm:prSet/>
      <dgm:spPr/>
      <dgm:t>
        <a:bodyPr/>
        <a:lstStyle/>
        <a:p>
          <a:r>
            <a:rPr lang="pt-BR" dirty="0"/>
            <a:t>outono</a:t>
          </a:r>
        </a:p>
      </dgm:t>
    </dgm:pt>
    <dgm:pt modelId="{72D47E27-4947-46E9-8634-D38343236A83}" type="parTrans" cxnId="{C545AAA4-5B88-463C-9BD3-8B48909129F3}">
      <dgm:prSet/>
      <dgm:spPr/>
      <dgm:t>
        <a:bodyPr/>
        <a:lstStyle/>
        <a:p>
          <a:endParaRPr lang="pt-BR"/>
        </a:p>
      </dgm:t>
    </dgm:pt>
    <dgm:pt modelId="{C4A61C9A-1714-4296-BA8A-5C6024D36BA0}" type="sibTrans" cxnId="{C545AAA4-5B88-463C-9BD3-8B48909129F3}">
      <dgm:prSet/>
      <dgm:spPr/>
      <dgm:t>
        <a:bodyPr/>
        <a:lstStyle/>
        <a:p>
          <a:endParaRPr lang="pt-BR"/>
        </a:p>
      </dgm:t>
    </dgm:pt>
    <dgm:pt modelId="{4C10371C-3439-4582-AF9E-4FA53C0D7F2A}" type="pres">
      <dgm:prSet presAssocID="{59133CEE-CCE4-4E46-A250-7767DD0C9698}" presName="Name0" presStyleCnt="0">
        <dgm:presLayoutVars>
          <dgm:dir/>
          <dgm:resizeHandles val="exact"/>
        </dgm:presLayoutVars>
      </dgm:prSet>
      <dgm:spPr/>
    </dgm:pt>
    <dgm:pt modelId="{3E2701FE-4E61-4CDC-AF5C-7C584101DE98}" type="pres">
      <dgm:prSet presAssocID="{DAA630A1-A087-4951-BC92-E212DDB6BC54}" presName="composite" presStyleCnt="0"/>
      <dgm:spPr/>
    </dgm:pt>
    <dgm:pt modelId="{29990295-AF2D-4FDA-ABD2-4A80FF7BCB6F}" type="pres">
      <dgm:prSet presAssocID="{DAA630A1-A087-4951-BC92-E212DDB6BC54}" presName="imagSh" presStyleLbl="bgImgPlace1" presStyleIdx="0" presStyleCnt="4" custScaleX="157971" custScaleY="158672"/>
      <dgm:spPr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</dgm:spPr>
    </dgm:pt>
    <dgm:pt modelId="{D49A9830-9D14-4313-8A7C-1C3281C41BC9}" type="pres">
      <dgm:prSet presAssocID="{DAA630A1-A087-4951-BC92-E212DDB6BC54}" presName="txNode" presStyleLbl="node1" presStyleIdx="0" presStyleCnt="4" custLinFactNeighborX="37587" custLinFactNeighborY="39295">
        <dgm:presLayoutVars>
          <dgm:bulletEnabled val="1"/>
        </dgm:presLayoutVars>
      </dgm:prSet>
      <dgm:spPr/>
    </dgm:pt>
    <dgm:pt modelId="{D0FBD481-D6D1-4EFF-B204-2ED75F3CAF99}" type="pres">
      <dgm:prSet presAssocID="{3492C07D-ADA0-41C2-84A8-1E3F76509457}" presName="sibTrans" presStyleLbl="sibTrans2D1" presStyleIdx="0" presStyleCnt="3"/>
      <dgm:spPr/>
    </dgm:pt>
    <dgm:pt modelId="{301EB6DD-0C33-4BF5-AF3F-75868FD49A67}" type="pres">
      <dgm:prSet presAssocID="{3492C07D-ADA0-41C2-84A8-1E3F76509457}" presName="connTx" presStyleLbl="sibTrans2D1" presStyleIdx="0" presStyleCnt="3"/>
      <dgm:spPr/>
    </dgm:pt>
    <dgm:pt modelId="{ED7E4E60-41CB-479C-9799-5FAB2C974416}" type="pres">
      <dgm:prSet presAssocID="{2F879B66-136E-457F-8146-107AE83D527A}" presName="composite" presStyleCnt="0"/>
      <dgm:spPr/>
    </dgm:pt>
    <dgm:pt modelId="{EB9284F1-F2D1-4BDB-9E77-69CD5BD162F1}" type="pres">
      <dgm:prSet presAssocID="{2F879B66-136E-457F-8146-107AE83D527A}" presName="imagSh" presStyleLbl="bgImgPlace1" presStyleIdx="1" presStyleCnt="4" custScaleX="159898" custScaleY="165037"/>
      <dgm:spPr>
        <a:blipFill rotWithShape="1">
          <a:blip xmlns:r="http://schemas.openxmlformats.org/officeDocument/2006/relationships" r:embed="rId2"/>
          <a:srcRect/>
          <a:stretch>
            <a:fillRect l="-26000" r="-26000"/>
          </a:stretch>
        </a:blipFill>
      </dgm:spPr>
    </dgm:pt>
    <dgm:pt modelId="{145C54C9-817A-4765-AF9E-479BF341115F}" type="pres">
      <dgm:prSet presAssocID="{2F879B66-136E-457F-8146-107AE83D527A}" presName="txNode" presStyleLbl="node1" presStyleIdx="1" presStyleCnt="4" custLinFactNeighborX="33455" custLinFactNeighborY="39295">
        <dgm:presLayoutVars>
          <dgm:bulletEnabled val="1"/>
        </dgm:presLayoutVars>
      </dgm:prSet>
      <dgm:spPr/>
    </dgm:pt>
    <dgm:pt modelId="{3ED9D5DC-1562-4E20-A01D-9EA1194218A0}" type="pres">
      <dgm:prSet presAssocID="{B12DC4EA-531C-4FCF-A3FC-164E49656D26}" presName="sibTrans" presStyleLbl="sibTrans2D1" presStyleIdx="1" presStyleCnt="3"/>
      <dgm:spPr/>
    </dgm:pt>
    <dgm:pt modelId="{97E4A061-1476-4B26-B928-079684B9B520}" type="pres">
      <dgm:prSet presAssocID="{B12DC4EA-531C-4FCF-A3FC-164E49656D26}" presName="connTx" presStyleLbl="sibTrans2D1" presStyleIdx="1" presStyleCnt="3"/>
      <dgm:spPr/>
    </dgm:pt>
    <dgm:pt modelId="{50B18712-0583-4E0A-B841-C6DA951EDC7F}" type="pres">
      <dgm:prSet presAssocID="{4301EBB6-A262-40A3-BE71-D8845FBB8859}" presName="composite" presStyleCnt="0"/>
      <dgm:spPr/>
    </dgm:pt>
    <dgm:pt modelId="{649F69AF-A801-40DC-940B-0C2AAF3506B9}" type="pres">
      <dgm:prSet presAssocID="{4301EBB6-A262-40A3-BE71-D8845FBB8859}" presName="imagSh" presStyleLbl="bgImgPlace1" presStyleIdx="2" presStyleCnt="4" custScaleX="177081" custScaleY="151536" custLinFactNeighborX="-1690" custLinFactNeighborY="3977"/>
      <dgm:spPr>
        <a:blipFill rotWithShape="1">
          <a:blip xmlns:r="http://schemas.openxmlformats.org/officeDocument/2006/relationships" r:embed="rId3"/>
          <a:srcRect/>
          <a:stretch>
            <a:fillRect l="-28000" r="-28000"/>
          </a:stretch>
        </a:blipFill>
      </dgm:spPr>
    </dgm:pt>
    <dgm:pt modelId="{FD172CBC-657D-4006-A918-F2F451885380}" type="pres">
      <dgm:prSet presAssocID="{4301EBB6-A262-40A3-BE71-D8845FBB8859}" presName="txNode" presStyleLbl="node1" presStyleIdx="2" presStyleCnt="4" custLinFactNeighborX="8543" custLinFactNeighborY="56231">
        <dgm:presLayoutVars>
          <dgm:bulletEnabled val="1"/>
        </dgm:presLayoutVars>
      </dgm:prSet>
      <dgm:spPr/>
    </dgm:pt>
    <dgm:pt modelId="{DD7ECE7F-2024-4513-B251-11AD4B1D4DC7}" type="pres">
      <dgm:prSet presAssocID="{E44F3D3E-8628-4F9F-9783-7F591492D425}" presName="sibTrans" presStyleLbl="sibTrans2D1" presStyleIdx="2" presStyleCnt="3"/>
      <dgm:spPr/>
    </dgm:pt>
    <dgm:pt modelId="{EF1E4D8B-4040-4ED8-9503-24949043D287}" type="pres">
      <dgm:prSet presAssocID="{E44F3D3E-8628-4F9F-9783-7F591492D425}" presName="connTx" presStyleLbl="sibTrans2D1" presStyleIdx="2" presStyleCnt="3"/>
      <dgm:spPr/>
    </dgm:pt>
    <dgm:pt modelId="{A59CBDE7-69D2-4674-81C9-D3439DB2BE74}" type="pres">
      <dgm:prSet presAssocID="{3CB9E504-5663-4053-A1FC-542E412B8585}" presName="composite" presStyleCnt="0"/>
      <dgm:spPr/>
    </dgm:pt>
    <dgm:pt modelId="{1D5721EB-DB9B-4E92-BB08-013871C972C1}" type="pres">
      <dgm:prSet presAssocID="{3CB9E504-5663-4053-A1FC-542E412B8585}" presName="imagSh" presStyleLbl="bgImgPlace1" presStyleIdx="3" presStyleCnt="4" custScaleX="141677" custScaleY="148251" custLinFactNeighborX="-22402" custLinFactNeighborY="5479"/>
      <dgm:spPr>
        <a:blipFill rotWithShape="1">
          <a:blip xmlns:r="http://schemas.openxmlformats.org/officeDocument/2006/relationships" r:embed="rId4"/>
          <a:srcRect/>
          <a:stretch>
            <a:fillRect l="-27000" r="-27000"/>
          </a:stretch>
        </a:blipFill>
      </dgm:spPr>
    </dgm:pt>
    <dgm:pt modelId="{A7E2BB8D-E579-4351-BA1D-06A2125008D7}" type="pres">
      <dgm:prSet presAssocID="{3CB9E504-5663-4053-A1FC-542E412B8585}" presName="txNode" presStyleLbl="node1" presStyleIdx="3" presStyleCnt="4" custLinFactNeighborX="-4054" custLinFactNeighborY="42712">
        <dgm:presLayoutVars>
          <dgm:bulletEnabled val="1"/>
        </dgm:presLayoutVars>
      </dgm:prSet>
      <dgm:spPr/>
    </dgm:pt>
  </dgm:ptLst>
  <dgm:cxnLst>
    <dgm:cxn modelId="{7BF91405-6ADC-403B-A03A-98218C302685}" srcId="{59133CEE-CCE4-4E46-A250-7767DD0C9698}" destId="{4301EBB6-A262-40A3-BE71-D8845FBB8859}" srcOrd="2" destOrd="0" parTransId="{1B0852EF-AB02-433B-AF85-0165F0663FAD}" sibTransId="{E44F3D3E-8628-4F9F-9783-7F591492D425}"/>
    <dgm:cxn modelId="{D844F711-9234-491B-9404-0B7D3A18DB27}" type="presOf" srcId="{E44F3D3E-8628-4F9F-9783-7F591492D425}" destId="{EF1E4D8B-4040-4ED8-9503-24949043D287}" srcOrd="1" destOrd="0" presId="urn:microsoft.com/office/officeart/2005/8/layout/hProcess10"/>
    <dgm:cxn modelId="{2ADCB345-5828-4BE6-96C1-8BD3188C0994}" type="presOf" srcId="{3492C07D-ADA0-41C2-84A8-1E3F76509457}" destId="{301EB6DD-0C33-4BF5-AF3F-75868FD49A67}" srcOrd="1" destOrd="0" presId="urn:microsoft.com/office/officeart/2005/8/layout/hProcess10"/>
    <dgm:cxn modelId="{0FB0FD68-90C0-40A3-B8E1-D1FD58790907}" type="presOf" srcId="{DAA630A1-A087-4951-BC92-E212DDB6BC54}" destId="{D49A9830-9D14-4313-8A7C-1C3281C41BC9}" srcOrd="0" destOrd="0" presId="urn:microsoft.com/office/officeart/2005/8/layout/hProcess10"/>
    <dgm:cxn modelId="{D144346A-EB55-4CE1-A09C-537B89FF9AE5}" type="presOf" srcId="{E44F3D3E-8628-4F9F-9783-7F591492D425}" destId="{DD7ECE7F-2024-4513-B251-11AD4B1D4DC7}" srcOrd="0" destOrd="0" presId="urn:microsoft.com/office/officeart/2005/8/layout/hProcess10"/>
    <dgm:cxn modelId="{BFF8856B-B8B7-4D43-9CF1-2886086FA618}" srcId="{59133CEE-CCE4-4E46-A250-7767DD0C9698}" destId="{2F879B66-136E-457F-8146-107AE83D527A}" srcOrd="1" destOrd="0" parTransId="{AD70541C-77D4-49FD-B529-5C75EC894CCD}" sibTransId="{B12DC4EA-531C-4FCF-A3FC-164E49656D26}"/>
    <dgm:cxn modelId="{79E7A37D-C8E4-421B-A032-0F5641AF3385}" type="presOf" srcId="{4301EBB6-A262-40A3-BE71-D8845FBB8859}" destId="{FD172CBC-657D-4006-A918-F2F451885380}" srcOrd="0" destOrd="0" presId="urn:microsoft.com/office/officeart/2005/8/layout/hProcess10"/>
    <dgm:cxn modelId="{F0672F99-2463-47D0-878E-00017A30B4A8}" type="presOf" srcId="{B12DC4EA-531C-4FCF-A3FC-164E49656D26}" destId="{97E4A061-1476-4B26-B928-079684B9B520}" srcOrd="1" destOrd="0" presId="urn:microsoft.com/office/officeart/2005/8/layout/hProcess10"/>
    <dgm:cxn modelId="{7591999C-6F1A-4848-810C-87769543775F}" type="presOf" srcId="{3492C07D-ADA0-41C2-84A8-1E3F76509457}" destId="{D0FBD481-D6D1-4EFF-B204-2ED75F3CAF99}" srcOrd="0" destOrd="0" presId="urn:microsoft.com/office/officeart/2005/8/layout/hProcess10"/>
    <dgm:cxn modelId="{C545AAA4-5B88-463C-9BD3-8B48909129F3}" srcId="{59133CEE-CCE4-4E46-A250-7767DD0C9698}" destId="{3CB9E504-5663-4053-A1FC-542E412B8585}" srcOrd="3" destOrd="0" parTransId="{72D47E27-4947-46E9-8634-D38343236A83}" sibTransId="{C4A61C9A-1714-4296-BA8A-5C6024D36BA0}"/>
    <dgm:cxn modelId="{49AEACB7-0BBB-4420-BFFC-1E35734E3A21}" srcId="{59133CEE-CCE4-4E46-A250-7767DD0C9698}" destId="{DAA630A1-A087-4951-BC92-E212DDB6BC54}" srcOrd="0" destOrd="0" parTransId="{45F52A6B-3434-4E94-BAD6-16FAF13ADD86}" sibTransId="{3492C07D-ADA0-41C2-84A8-1E3F76509457}"/>
    <dgm:cxn modelId="{DFBA63C8-172B-4AC0-9BE5-165ADEC0F255}" type="presOf" srcId="{2F879B66-136E-457F-8146-107AE83D527A}" destId="{145C54C9-817A-4765-AF9E-479BF341115F}" srcOrd="0" destOrd="0" presId="urn:microsoft.com/office/officeart/2005/8/layout/hProcess10"/>
    <dgm:cxn modelId="{58D0B7C9-CBAC-48FB-A78A-43AE844F3828}" type="presOf" srcId="{3CB9E504-5663-4053-A1FC-542E412B8585}" destId="{A7E2BB8D-E579-4351-BA1D-06A2125008D7}" srcOrd="0" destOrd="0" presId="urn:microsoft.com/office/officeart/2005/8/layout/hProcess10"/>
    <dgm:cxn modelId="{569220E6-7DF9-4472-9F35-A3C073F01F07}" type="presOf" srcId="{B12DC4EA-531C-4FCF-A3FC-164E49656D26}" destId="{3ED9D5DC-1562-4E20-A01D-9EA1194218A0}" srcOrd="0" destOrd="0" presId="urn:microsoft.com/office/officeart/2005/8/layout/hProcess10"/>
    <dgm:cxn modelId="{8C52A5F7-27BA-48AA-B720-51ECED3D2572}" type="presOf" srcId="{59133CEE-CCE4-4E46-A250-7767DD0C9698}" destId="{4C10371C-3439-4582-AF9E-4FA53C0D7F2A}" srcOrd="0" destOrd="0" presId="urn:microsoft.com/office/officeart/2005/8/layout/hProcess10"/>
    <dgm:cxn modelId="{49481F6B-DDE2-47C7-B929-BB9E065FA49C}" type="presParOf" srcId="{4C10371C-3439-4582-AF9E-4FA53C0D7F2A}" destId="{3E2701FE-4E61-4CDC-AF5C-7C584101DE98}" srcOrd="0" destOrd="0" presId="urn:microsoft.com/office/officeart/2005/8/layout/hProcess10"/>
    <dgm:cxn modelId="{DB00959D-502E-4A9A-B33F-16C195374323}" type="presParOf" srcId="{3E2701FE-4E61-4CDC-AF5C-7C584101DE98}" destId="{29990295-AF2D-4FDA-ABD2-4A80FF7BCB6F}" srcOrd="0" destOrd="0" presId="urn:microsoft.com/office/officeart/2005/8/layout/hProcess10"/>
    <dgm:cxn modelId="{7FDB4A4B-E5C7-4C6A-99F0-187E2A54ECE9}" type="presParOf" srcId="{3E2701FE-4E61-4CDC-AF5C-7C584101DE98}" destId="{D49A9830-9D14-4313-8A7C-1C3281C41BC9}" srcOrd="1" destOrd="0" presId="urn:microsoft.com/office/officeart/2005/8/layout/hProcess10"/>
    <dgm:cxn modelId="{73DC5A06-3B52-409A-8A4D-659F9E626D28}" type="presParOf" srcId="{4C10371C-3439-4582-AF9E-4FA53C0D7F2A}" destId="{D0FBD481-D6D1-4EFF-B204-2ED75F3CAF99}" srcOrd="1" destOrd="0" presId="urn:microsoft.com/office/officeart/2005/8/layout/hProcess10"/>
    <dgm:cxn modelId="{9DF1283A-37A8-402A-B43A-6AE82C079641}" type="presParOf" srcId="{D0FBD481-D6D1-4EFF-B204-2ED75F3CAF99}" destId="{301EB6DD-0C33-4BF5-AF3F-75868FD49A67}" srcOrd="0" destOrd="0" presId="urn:microsoft.com/office/officeart/2005/8/layout/hProcess10"/>
    <dgm:cxn modelId="{062F6578-6BA2-4445-BF30-70532DB50003}" type="presParOf" srcId="{4C10371C-3439-4582-AF9E-4FA53C0D7F2A}" destId="{ED7E4E60-41CB-479C-9799-5FAB2C974416}" srcOrd="2" destOrd="0" presId="urn:microsoft.com/office/officeart/2005/8/layout/hProcess10"/>
    <dgm:cxn modelId="{8D826083-527F-4B67-B1A0-A7D8743B6A65}" type="presParOf" srcId="{ED7E4E60-41CB-479C-9799-5FAB2C974416}" destId="{EB9284F1-F2D1-4BDB-9E77-69CD5BD162F1}" srcOrd="0" destOrd="0" presId="urn:microsoft.com/office/officeart/2005/8/layout/hProcess10"/>
    <dgm:cxn modelId="{CE479AD5-FA5C-47AD-8F5B-5300E9AA81C4}" type="presParOf" srcId="{ED7E4E60-41CB-479C-9799-5FAB2C974416}" destId="{145C54C9-817A-4765-AF9E-479BF341115F}" srcOrd="1" destOrd="0" presId="urn:microsoft.com/office/officeart/2005/8/layout/hProcess10"/>
    <dgm:cxn modelId="{EF1CB72E-52D4-40CE-A2C8-10A3B13B1C4E}" type="presParOf" srcId="{4C10371C-3439-4582-AF9E-4FA53C0D7F2A}" destId="{3ED9D5DC-1562-4E20-A01D-9EA1194218A0}" srcOrd="3" destOrd="0" presId="urn:microsoft.com/office/officeart/2005/8/layout/hProcess10"/>
    <dgm:cxn modelId="{5432AB5C-EDC5-4EF8-BFCF-CD69F50C803C}" type="presParOf" srcId="{3ED9D5DC-1562-4E20-A01D-9EA1194218A0}" destId="{97E4A061-1476-4B26-B928-079684B9B520}" srcOrd="0" destOrd="0" presId="urn:microsoft.com/office/officeart/2005/8/layout/hProcess10"/>
    <dgm:cxn modelId="{3A641FEB-3A3C-4744-91F1-D299C700DC61}" type="presParOf" srcId="{4C10371C-3439-4582-AF9E-4FA53C0D7F2A}" destId="{50B18712-0583-4E0A-B841-C6DA951EDC7F}" srcOrd="4" destOrd="0" presId="urn:microsoft.com/office/officeart/2005/8/layout/hProcess10"/>
    <dgm:cxn modelId="{F7999429-8353-4583-BF0B-08F814255524}" type="presParOf" srcId="{50B18712-0583-4E0A-B841-C6DA951EDC7F}" destId="{649F69AF-A801-40DC-940B-0C2AAF3506B9}" srcOrd="0" destOrd="0" presId="urn:microsoft.com/office/officeart/2005/8/layout/hProcess10"/>
    <dgm:cxn modelId="{10DB5420-1B1A-4510-AE40-10A0CA126533}" type="presParOf" srcId="{50B18712-0583-4E0A-B841-C6DA951EDC7F}" destId="{FD172CBC-657D-4006-A918-F2F451885380}" srcOrd="1" destOrd="0" presId="urn:microsoft.com/office/officeart/2005/8/layout/hProcess10"/>
    <dgm:cxn modelId="{0DBA0610-6B4A-4DFB-BCBA-DC98E87708B6}" type="presParOf" srcId="{4C10371C-3439-4582-AF9E-4FA53C0D7F2A}" destId="{DD7ECE7F-2024-4513-B251-11AD4B1D4DC7}" srcOrd="5" destOrd="0" presId="urn:microsoft.com/office/officeart/2005/8/layout/hProcess10"/>
    <dgm:cxn modelId="{D4AF5A04-49F1-4F55-AD75-26832D897AC5}" type="presParOf" srcId="{DD7ECE7F-2024-4513-B251-11AD4B1D4DC7}" destId="{EF1E4D8B-4040-4ED8-9503-24949043D287}" srcOrd="0" destOrd="0" presId="urn:microsoft.com/office/officeart/2005/8/layout/hProcess10"/>
    <dgm:cxn modelId="{7B0B90F1-BC91-4920-A833-E7F35D3E9FBA}" type="presParOf" srcId="{4C10371C-3439-4582-AF9E-4FA53C0D7F2A}" destId="{A59CBDE7-69D2-4674-81C9-D3439DB2BE74}" srcOrd="6" destOrd="0" presId="urn:microsoft.com/office/officeart/2005/8/layout/hProcess10"/>
    <dgm:cxn modelId="{14195ED0-7D62-426C-8CFF-04479E3A5326}" type="presParOf" srcId="{A59CBDE7-69D2-4674-81C9-D3439DB2BE74}" destId="{1D5721EB-DB9B-4E92-BB08-013871C972C1}" srcOrd="0" destOrd="0" presId="urn:microsoft.com/office/officeart/2005/8/layout/hProcess10"/>
    <dgm:cxn modelId="{8BFC8748-C7C3-42A7-9381-99B75FA43F9B}" type="presParOf" srcId="{A59CBDE7-69D2-4674-81C9-D3439DB2BE74}" destId="{A7E2BB8D-E579-4351-BA1D-06A2125008D7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990295-AF2D-4FDA-ABD2-4A80FF7BCB6F}">
      <dsp:nvSpPr>
        <dsp:cNvPr id="0" name=""/>
        <dsp:cNvSpPr/>
      </dsp:nvSpPr>
      <dsp:spPr>
        <a:xfrm>
          <a:off x="6580" y="836901"/>
          <a:ext cx="2921404" cy="29343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l="-25000" r="-2500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49A9830-9D14-4313-8A7C-1C3281C41BC9}">
      <dsp:nvSpPr>
        <dsp:cNvPr id="0" name=""/>
        <dsp:cNvSpPr/>
      </dsp:nvSpPr>
      <dsp:spPr>
        <a:xfrm>
          <a:off x="1538779" y="3215712"/>
          <a:ext cx="1849329" cy="18493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inverno</a:t>
          </a:r>
        </a:p>
      </dsp:txBody>
      <dsp:txXfrm>
        <a:off x="1592944" y="3269877"/>
        <a:ext cx="1740999" cy="1740999"/>
      </dsp:txXfrm>
    </dsp:sp>
    <dsp:sp modelId="{D0FBD481-D6D1-4EFF-B204-2ED75F3CAF99}">
      <dsp:nvSpPr>
        <dsp:cNvPr id="0" name=""/>
        <dsp:cNvSpPr/>
      </dsp:nvSpPr>
      <dsp:spPr>
        <a:xfrm rot="27671">
          <a:off x="3178834" y="2096687"/>
          <a:ext cx="250861" cy="4443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tint val="6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/>
        </a:p>
      </dsp:txBody>
      <dsp:txXfrm>
        <a:off x="3178835" y="2185258"/>
        <a:ext cx="175603" cy="266620"/>
      </dsp:txXfrm>
    </dsp:sp>
    <dsp:sp modelId="{EB9284F1-F2D1-4BDB-9E77-69CD5BD162F1}">
      <dsp:nvSpPr>
        <dsp:cNvPr id="0" name=""/>
        <dsp:cNvSpPr/>
      </dsp:nvSpPr>
      <dsp:spPr>
        <a:xfrm>
          <a:off x="3644708" y="807473"/>
          <a:ext cx="2957041" cy="305207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l="-26000" r="-2600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145C54C9-817A-4765-AF9E-479BF341115F}">
      <dsp:nvSpPr>
        <dsp:cNvPr id="0" name=""/>
        <dsp:cNvSpPr/>
      </dsp:nvSpPr>
      <dsp:spPr>
        <a:xfrm>
          <a:off x="5118311" y="3245140"/>
          <a:ext cx="1849329" cy="18493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primavera</a:t>
          </a:r>
        </a:p>
      </dsp:txBody>
      <dsp:txXfrm>
        <a:off x="5172476" y="3299305"/>
        <a:ext cx="1740999" cy="1740999"/>
      </dsp:txXfrm>
    </dsp:sp>
    <dsp:sp modelId="{3ED9D5DC-1562-4E20-A01D-9EA1194218A0}">
      <dsp:nvSpPr>
        <dsp:cNvPr id="0" name=""/>
        <dsp:cNvSpPr/>
      </dsp:nvSpPr>
      <dsp:spPr>
        <a:xfrm rot="10064">
          <a:off x="6841663" y="2116710"/>
          <a:ext cx="239915" cy="4443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tint val="6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/>
        </a:p>
      </dsp:txBody>
      <dsp:txXfrm>
        <a:off x="6841663" y="2205479"/>
        <a:ext cx="167941" cy="266620"/>
      </dsp:txXfrm>
    </dsp:sp>
    <dsp:sp modelId="{649F69AF-A801-40DC-940B-0C2AAF3506B9}">
      <dsp:nvSpPr>
        <dsp:cNvPr id="0" name=""/>
        <dsp:cNvSpPr/>
      </dsp:nvSpPr>
      <dsp:spPr>
        <a:xfrm>
          <a:off x="7287218" y="943441"/>
          <a:ext cx="3274811" cy="2802400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l="-28000" r="-2800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D172CBC-657D-4006-A918-F2F451885380}">
      <dsp:nvSpPr>
        <dsp:cNvPr id="0" name=""/>
        <dsp:cNvSpPr/>
      </dsp:nvSpPr>
      <dsp:spPr>
        <a:xfrm>
          <a:off x="8490255" y="3325920"/>
          <a:ext cx="1849329" cy="18493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primavera</a:t>
          </a:r>
        </a:p>
      </dsp:txBody>
      <dsp:txXfrm>
        <a:off x="8544420" y="3380085"/>
        <a:ext cx="1740999" cy="1740999"/>
      </dsp:txXfrm>
    </dsp:sp>
    <dsp:sp modelId="{DD7ECE7F-2024-4513-B251-11AD4B1D4DC7}">
      <dsp:nvSpPr>
        <dsp:cNvPr id="0" name=""/>
        <dsp:cNvSpPr/>
      </dsp:nvSpPr>
      <dsp:spPr>
        <a:xfrm rot="13190">
          <a:off x="10678821" y="2129412"/>
          <a:ext cx="116792" cy="4443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tint val="6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/>
        </a:p>
      </dsp:txBody>
      <dsp:txXfrm>
        <a:off x="10678821" y="2218219"/>
        <a:ext cx="81754" cy="266620"/>
      </dsp:txXfrm>
    </dsp:sp>
    <dsp:sp modelId="{1D5721EB-DB9B-4E92-BB08-013871C972C1}">
      <dsp:nvSpPr>
        <dsp:cNvPr id="0" name=""/>
        <dsp:cNvSpPr/>
      </dsp:nvSpPr>
      <dsp:spPr>
        <a:xfrm>
          <a:off x="10895720" y="986405"/>
          <a:ext cx="2620075" cy="274164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rcRect/>
          <a:stretch>
            <a:fillRect l="-27000" r="-2700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7E2BB8D-E579-4351-BA1D-06A2125008D7}">
      <dsp:nvSpPr>
        <dsp:cNvPr id="0" name=""/>
        <dsp:cNvSpPr/>
      </dsp:nvSpPr>
      <dsp:spPr>
        <a:xfrm>
          <a:off x="11921461" y="3230724"/>
          <a:ext cx="1849329" cy="18493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outono</a:t>
          </a:r>
        </a:p>
      </dsp:txBody>
      <dsp:txXfrm>
        <a:off x="11975626" y="3284889"/>
        <a:ext cx="1740999" cy="1740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1635" y="1203448"/>
            <a:ext cx="12955610" cy="4381070"/>
          </a:xfrm>
        </p:spPr>
        <p:txBody>
          <a:bodyPr bIns="0" anchor="b">
            <a:normAutofit/>
          </a:bodyPr>
          <a:lstStyle>
            <a:lvl1pPr algn="ctr">
              <a:defRPr sz="99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1636" y="5586112"/>
            <a:ext cx="12955608" cy="1466432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2700" b="0" cap="all" baseline="0">
                <a:solidFill>
                  <a:schemeClr val="tx1"/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7368" y="493961"/>
            <a:ext cx="8440161" cy="4638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5252" y="1198460"/>
            <a:ext cx="1216529" cy="755367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43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3965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1635" y="2634196"/>
            <a:ext cx="12964731" cy="295351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1635" y="5587706"/>
            <a:ext cx="12964731" cy="1640981"/>
          </a:xfrm>
        </p:spPr>
        <p:txBody>
          <a:bodyPr tIns="91440">
            <a:normAutofit/>
          </a:bodyPr>
          <a:lstStyle>
            <a:lvl1pPr marL="0" indent="0" algn="ctr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2854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826" y="1207334"/>
            <a:ext cx="13940366" cy="158895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0997" y="3016318"/>
            <a:ext cx="6732981" cy="517289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81210" y="3026015"/>
            <a:ext cx="6732981" cy="51622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4428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787" y="1206245"/>
            <a:ext cx="13943405" cy="158447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787" y="3029324"/>
            <a:ext cx="6733191" cy="120291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787" y="4236404"/>
            <a:ext cx="6733191" cy="39666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84038" y="3034505"/>
            <a:ext cx="6733191" cy="12033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84038" y="4232237"/>
            <a:ext cx="6733191" cy="39560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3221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9250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4164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007" y="1198460"/>
            <a:ext cx="4442951" cy="3609777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5486" y="1198461"/>
            <a:ext cx="9018705" cy="6988239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7007" y="4808237"/>
            <a:ext cx="4442951" cy="3372272"/>
          </a:xfrm>
        </p:spPr>
        <p:txBody>
          <a:bodyPr/>
          <a:lstStyle>
            <a:lvl1pPr marL="0" indent="0" algn="l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522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1216081" y="723256"/>
            <a:ext cx="6111800" cy="7723652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809" y="1694269"/>
            <a:ext cx="8298492" cy="288344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86584" y="1683814"/>
            <a:ext cx="4186757" cy="5799491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 algn="ctr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75494" y="4589400"/>
            <a:ext cx="8286606" cy="3135201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71074" y="8204785"/>
            <a:ext cx="8291027" cy="48018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71073" y="477961"/>
            <a:ext cx="8311506" cy="4813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0055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0810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90578" y="1198460"/>
            <a:ext cx="2423613" cy="6989834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67008" y="1198460"/>
            <a:ext cx="11277981" cy="69898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39319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7369" y="1206779"/>
            <a:ext cx="13936823" cy="1573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7369" y="3023599"/>
            <a:ext cx="13936823" cy="5175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63119" y="495555"/>
            <a:ext cx="5251073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7368" y="493961"/>
            <a:ext cx="8440161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5433437"/>
            <a:ext cx="18288000" cy="375897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9194007"/>
            <a:ext cx="18288000" cy="111442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9207213"/>
            <a:ext cx="18288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7842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hf sldNum="0" hdr="0" ftr="0" dt="0"/>
  <p:txStyles>
    <p:titleStyle>
      <a:lvl1pPr algn="ctr" defTabSz="1371600" rtl="0" eaLnBrk="1" latinLnBrk="0" hangingPunct="1">
        <a:lnSpc>
          <a:spcPct val="90000"/>
        </a:lnSpc>
        <a:spcBef>
          <a:spcPct val="0"/>
        </a:spcBef>
        <a:buNone/>
        <a:defRPr sz="48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7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hyperlink" Target="https://www.viaalagoas.com.br/brasil/20/03/2026/outono-comeca-no-brasil-veja-quando-inicia-quando-termina-e-como-fica-o-clima-em-cada-regiao/" TargetMode="External"/><Relationship Id="rId7" Type="http://schemas.openxmlformats.org/officeDocument/2006/relationships/hyperlink" Target="https://pixnio.com/it/paesaggi/inverno/inverno-mattina-alba-paesaggio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hyperlink" Target="https://pixnio.com/pt/media/agricultura-luz-do-dia-bom-tempo-campo-de-trigo-idilico" TargetMode="External"/><Relationship Id="rId4" Type="http://schemas.openxmlformats.org/officeDocument/2006/relationships/image" Target="../media/image4.jpg"/><Relationship Id="rId9" Type="http://schemas.openxmlformats.org/officeDocument/2006/relationships/hyperlink" Target="https://pixnio.com/nature-landscapes/spring/pink-blossoms-spring-branch-apple-tre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exels.com/pt-br/video/vista-do-sol-se-pondo-856711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ixnio.com/nature-landscapes/spring/pink-blossoms-spring-branch-apple-tree" TargetMode="External"/><Relationship Id="rId5" Type="http://schemas.openxmlformats.org/officeDocument/2006/relationships/image" Target="../media/image6.jp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.jpeg"/><Relationship Id="rId2" Type="http://schemas.openxmlformats.org/officeDocument/2006/relationships/video" Target="https://www.youtube.com/embed/GnJdnzOp7a4?feature=oembed" TargetMode="External"/><Relationship Id="rId1" Type="http://schemas.openxmlformats.org/officeDocument/2006/relationships/video" Target="https://www.youtube.com/embed/2k6gZ0YuNTg?feature=oembed" TargetMode="Externa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A61D058-D616-7877-92E8-C1C0F77BB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1342" y="-181534"/>
            <a:ext cx="12955610" cy="3812147"/>
          </a:xfrm>
        </p:spPr>
        <p:txBody>
          <a:bodyPr/>
          <a:lstStyle/>
          <a:p>
            <a:pPr algn="ctr"/>
            <a:r>
              <a:rPr lang="pt-BR" dirty="0"/>
              <a:t>KARLOS SILVA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40E14B-2994-260A-D048-5019455AE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" y="4809320"/>
            <a:ext cx="4019932" cy="427423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B w="139700" h="139700" prst="divot"/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C313643-3954-15C5-EF79-B382773CC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235116" y="4809321"/>
            <a:ext cx="4594438" cy="42742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C737892-A656-EC8C-17F4-C2D7978170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3523496" y="4809321"/>
            <a:ext cx="4713372" cy="427423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A4D8C92-A392-B715-DC77-D4C19F41E9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144000" y="4809320"/>
            <a:ext cx="4214063" cy="43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3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8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9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2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26" tmFilter="0, 0; 0.125,0.2665; 0.25,0.4; 0.375,0.465; 0.5,0.5;  0.625,0.535; 0.75,0.6; 0.875,0.7335; 1,1">
                                          <p:stCondLst>
                                            <p:cond delay="32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" tmFilter="0, 0; 0.125,0.2665; 0.25,0.4; 0.375,0.465; 0.5,0.5;  0.625,0.535; 0.75,0.6; 0.875,0.7335; 1,1">
                                          <p:stCondLst>
                                            <p:cond delay="65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" tmFilter="0, 0; 0.125,0.2665; 0.25,0.4; 0.375,0.465; 0.5,0.5;  0.625,0.535; 0.75,0.6; 0.875,0.7335; 1,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" decel="50000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">
                                          <p:stCondLst>
                                            <p:cond delay="64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" decel="50000">
                                          <p:stCondLst>
                                            <p:cond delay="65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" decel="50000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" decel="50000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2"/>
          <p:cNvGrpSpPr/>
          <p:nvPr/>
        </p:nvGrpSpPr>
        <p:grpSpPr>
          <a:xfrm>
            <a:off x="6" y="-117305"/>
            <a:ext cx="18287987" cy="10404306"/>
            <a:chOff x="-18992" y="-17790"/>
            <a:chExt cx="853409" cy="485517"/>
          </a:xfrm>
        </p:grpSpPr>
        <p:sp>
          <p:nvSpPr>
            <p:cNvPr id="100" name="Google Shape;100;p12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2"/>
            <p:cNvSpPr txBox="1"/>
            <p:nvPr/>
          </p:nvSpPr>
          <p:spPr>
            <a:xfrm>
              <a:off x="-18992" y="-17790"/>
              <a:ext cx="853409" cy="4855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6" name="Google Shape;10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040" y="2668407"/>
            <a:ext cx="3308850" cy="7281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DF1F3D1-D3DC-8B8A-E588-32FBEBB7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925" y="1074739"/>
            <a:ext cx="14134357" cy="1705894"/>
          </a:xfrm>
        </p:spPr>
        <p:txBody>
          <a:bodyPr/>
          <a:lstStyle/>
          <a:p>
            <a:r>
              <a:rPr lang="pt-BR" dirty="0"/>
              <a:t>ESTAÇÕES DO ANO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3CECF7A-018D-C6B8-F085-717EC7620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925" y="3161859"/>
            <a:ext cx="14134357" cy="5037659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dirty="0"/>
              <a:t>Estações do ano designam quatro períodos ao longo de um ano, cada um com características distintas, baseadas em padrões ou variações climáticas. As estações do ano são : outono; inverno; primavera; e verão.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3"/>
          <p:cNvGrpSpPr/>
          <p:nvPr/>
        </p:nvGrpSpPr>
        <p:grpSpPr>
          <a:xfrm>
            <a:off x="406993" y="-720170"/>
            <a:ext cx="17474015" cy="10706767"/>
            <a:chOff x="0" y="-47625"/>
            <a:chExt cx="815425" cy="499631"/>
          </a:xfrm>
        </p:grpSpPr>
        <p:sp>
          <p:nvSpPr>
            <p:cNvPr id="132" name="Google Shape;132;p13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 txBox="1"/>
            <p:nvPr/>
          </p:nvSpPr>
          <p:spPr>
            <a:xfrm>
              <a:off x="0" y="-47625"/>
              <a:ext cx="815425" cy="49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6" name="Google Shape;1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10635" y="5655700"/>
            <a:ext cx="6747207" cy="720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9375" y="-720175"/>
            <a:ext cx="5318925" cy="614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61958" y="4523874"/>
            <a:ext cx="3364884" cy="53987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B9AB13-E9EE-ED2E-C85E-AFF5C0F66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DAS ESTAÇÕES DO ANO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3D568E-FDCC-FFBA-7467-B4A444469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As estações do ano possuem características bem definidas e específicas, diferenciando-se nos Hemisférios Sul e Norte de acordo com a inclinação do eixo da Terra e com os movimentos de rotação e translação.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50000">
              <a:srgbClr val="FF914D"/>
            </a:gs>
          </a:gsLst>
          <a:lin ang="5400000" scaled="0"/>
        </a:gra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5EF94F-7379-B345-8485-41CD9A2B1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322316" y="1074738"/>
            <a:ext cx="6298232" cy="433947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375B96D4-CF2C-5EF5-E2B9-08AED4BC9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98" y="2283338"/>
            <a:ext cx="12955610" cy="1216053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Verão</a:t>
            </a:r>
            <a:br>
              <a:rPr lang="pt-BR" b="1" dirty="0"/>
            </a:br>
            <a:endParaRPr lang="pt-BR" dirty="0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A8F8A859-D86E-3D70-C2AA-AE5D7AAB7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992" y="4025186"/>
            <a:ext cx="8562536" cy="1216054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Apresenta temperaturas elevadas e dias mais longos que as noites. Nesse período, há aumento dos índices pluviométricos.</a:t>
            </a:r>
            <a:r>
              <a:rPr lang="pt-BR" b="1" dirty="0"/>
              <a:t> </a:t>
            </a:r>
            <a:r>
              <a:rPr lang="pt-BR" dirty="0"/>
              <a:t>Essa estação do ano sucede a primavera e antecede o outono.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5"/>
          <p:cNvGrpSpPr/>
          <p:nvPr/>
        </p:nvGrpSpPr>
        <p:grpSpPr>
          <a:xfrm>
            <a:off x="406993" y="-720170"/>
            <a:ext cx="17474015" cy="10706767"/>
            <a:chOff x="0" y="-47625"/>
            <a:chExt cx="815425" cy="499631"/>
          </a:xfrm>
        </p:grpSpPr>
        <p:sp>
          <p:nvSpPr>
            <p:cNvPr id="171" name="Google Shape;171;p15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 txBox="1"/>
            <p:nvPr/>
          </p:nvSpPr>
          <p:spPr>
            <a:xfrm>
              <a:off x="0" y="-47625"/>
              <a:ext cx="815425" cy="49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3" name="Google Shape;1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6827" y="300403"/>
            <a:ext cx="5190700" cy="4117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92" y="5265699"/>
            <a:ext cx="4973599" cy="39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5253" y="5302425"/>
            <a:ext cx="1803596" cy="39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703" y="3171012"/>
            <a:ext cx="1803596" cy="39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DB986-B966-6141-9789-2743698F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925" y="1253867"/>
            <a:ext cx="14134357" cy="1526765"/>
          </a:xfrm>
        </p:spPr>
        <p:txBody>
          <a:bodyPr/>
          <a:lstStyle/>
          <a:p>
            <a:r>
              <a:rPr lang="pt-BR" dirty="0"/>
              <a:t>OUTONO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CC15D2-D591-B9F7-C4A0-9C332D0CB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0" y="3465095"/>
            <a:ext cx="7438282" cy="4734424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É considerado um período de transição e caracteriza-se pelo declínio das temperaturas, com exceção das regiões que se localizam próximo ao Equador. Nesse período, as folhas das árvores apresentam tons amarelados e costumam cair, indicando mudança de estação.</a:t>
            </a:r>
          </a:p>
        </p:txBody>
      </p:sp>
      <p:pic>
        <p:nvPicPr>
          <p:cNvPr id="4" name="Imagem 3" descr="Árvores durante o outono, uma das estações do ano.">
            <a:extLst>
              <a:ext uri="{FF2B5EF4-FFF2-40B4-BE49-F238E27FC236}">
                <a16:creationId xmlns:a16="http://schemas.microsoft.com/office/drawing/2014/main" id="{8D4607C0-4A95-B743-49A9-D9CEE872B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7924" y="3040945"/>
            <a:ext cx="6262939" cy="473442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16"/>
          <p:cNvGrpSpPr/>
          <p:nvPr/>
        </p:nvGrpSpPr>
        <p:grpSpPr>
          <a:xfrm>
            <a:off x="0" y="-914400"/>
            <a:ext cx="18288000" cy="9994622"/>
            <a:chOff x="0" y="-47625"/>
            <a:chExt cx="815425" cy="499631"/>
          </a:xfrm>
          <a:gradFill>
            <a:gsLst>
              <a:gs pos="0">
                <a:srgbClr val="FFDE59"/>
              </a:gs>
              <a:gs pos="100000">
                <a:srgbClr val="FF914D"/>
              </a:gs>
            </a:gsLst>
            <a:lin ang="5400000" scaled="0"/>
          </a:gradFill>
        </p:grpSpPr>
        <p:sp>
          <p:nvSpPr>
            <p:cNvPr id="191" name="Google Shape;191;p16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grpFill/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6"/>
            <p:cNvSpPr txBox="1"/>
            <p:nvPr/>
          </p:nvSpPr>
          <p:spPr>
            <a:xfrm>
              <a:off x="0" y="-47625"/>
              <a:ext cx="815425" cy="49963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6D70E4C-55DB-5DCC-57B1-640597D0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INVERNO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8C95D0-38F3-0C2B-CBD0-0954AE505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370" y="2780632"/>
            <a:ext cx="6244736" cy="54188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Caracteriza-se pela queda das temperaturas e, em alguns lugares do Hemisfério Sul, pela ocorrência de geadas e nevascas. Apresenta dias mais curtos e noite mais longas em de corrência da menor incidência solar. Nesse período, ocorrem migrações de diversas espécies de animais para áreas com temperaturas mais elevadas.</a:t>
            </a:r>
          </a:p>
        </p:txBody>
      </p:sp>
      <p:pic>
        <p:nvPicPr>
          <p:cNvPr id="4" name="Imagem 3" descr="Nevasca durante o inverno, uma das estações do ano.">
            <a:extLst>
              <a:ext uri="{FF2B5EF4-FFF2-40B4-BE49-F238E27FC236}">
                <a16:creationId xmlns:a16="http://schemas.microsoft.com/office/drawing/2014/main" id="{E330C7E9-EF8E-B28E-0F54-6720C900B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06" y="3023601"/>
            <a:ext cx="6966630" cy="49329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7"/>
          <p:cNvGrpSpPr/>
          <p:nvPr/>
        </p:nvGrpSpPr>
        <p:grpSpPr>
          <a:xfrm>
            <a:off x="209506" y="-1040936"/>
            <a:ext cx="17473987" cy="10706743"/>
            <a:chOff x="0" y="-47625"/>
            <a:chExt cx="815425" cy="499631"/>
          </a:xfrm>
        </p:grpSpPr>
        <p:sp>
          <p:nvSpPr>
            <p:cNvPr id="211" name="Google Shape;211;p17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7"/>
            <p:cNvSpPr txBox="1"/>
            <p:nvPr/>
          </p:nvSpPr>
          <p:spPr>
            <a:xfrm>
              <a:off x="0" y="-47625"/>
              <a:ext cx="815425" cy="49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4" name="Google Shape;2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8155" y="4313998"/>
            <a:ext cx="2352825" cy="5351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507" y="300403"/>
            <a:ext cx="6041449" cy="26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573292B-6C1B-9E30-F493-03EDC027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925" y="2878065"/>
            <a:ext cx="14396286" cy="102057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Primavera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227DF8-A161-BCF7-D7A1-A7A6F52FB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397" y="3790204"/>
            <a:ext cx="7146758" cy="4518529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Apresenta temperaturas amenas e agradáveis e aumento dos índices pluviométricos. Os dias começam a ficar mais longos, e as noites passam a ser mais curtas. A característica principal dessa estação é reflorescimento da flora terrestre.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F22C75-3305-95BD-EE5F-41B6BB55E2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505497" y="3790204"/>
            <a:ext cx="5486400" cy="41148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936" y="-2239566"/>
            <a:ext cx="5306138" cy="6841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AA3817-E5C3-2C8D-9BC6-2930811B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ESTAÇÕES DO ANO NO HEMISFÉRIO NORTE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6B391CCF-4C21-C22E-898D-3125C2A61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070156"/>
              </p:ext>
            </p:extLst>
          </p:nvPr>
        </p:nvGraphicFramePr>
        <p:xfrm>
          <a:off x="2178050" y="3024188"/>
          <a:ext cx="1393666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5554">
                  <a:extLst>
                    <a:ext uri="{9D8B030D-6E8A-4147-A177-3AD203B41FA5}">
                      <a16:colId xmlns:a16="http://schemas.microsoft.com/office/drawing/2014/main" val="382714833"/>
                    </a:ext>
                  </a:extLst>
                </a:gridCol>
                <a:gridCol w="4645554">
                  <a:extLst>
                    <a:ext uri="{9D8B030D-6E8A-4147-A177-3AD203B41FA5}">
                      <a16:colId xmlns:a16="http://schemas.microsoft.com/office/drawing/2014/main" val="1603167493"/>
                    </a:ext>
                  </a:extLst>
                </a:gridCol>
                <a:gridCol w="4645554">
                  <a:extLst>
                    <a:ext uri="{9D8B030D-6E8A-4147-A177-3AD203B41FA5}">
                      <a16:colId xmlns:a16="http://schemas.microsoft.com/office/drawing/2014/main" val="41874316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Término</a:t>
                      </a:r>
                    </a:p>
                  </a:txBody>
                  <a:tcPr marL="88467" marR="88467"/>
                </a:tc>
                <a:extLst>
                  <a:ext uri="{0D108BD9-81ED-4DB2-BD59-A6C34878D82A}">
                    <a16:rowId xmlns:a16="http://schemas.microsoft.com/office/drawing/2014/main" val="1167536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Verão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junho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 de setembro</a:t>
                      </a:r>
                    </a:p>
                  </a:txBody>
                  <a:tcPr marL="88467" marR="88467"/>
                </a:tc>
                <a:extLst>
                  <a:ext uri="{0D108BD9-81ED-4DB2-BD59-A6C34878D82A}">
                    <a16:rowId xmlns:a16="http://schemas.microsoft.com/office/drawing/2014/main" val="13972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Outono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 de setembro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dezembro</a:t>
                      </a:r>
                    </a:p>
                  </a:txBody>
                  <a:tcPr marL="88467" marR="88467"/>
                </a:tc>
                <a:extLst>
                  <a:ext uri="{0D108BD9-81ED-4DB2-BD59-A6C34878D82A}">
                    <a16:rowId xmlns:a16="http://schemas.microsoft.com/office/drawing/2014/main" val="3458903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Inverno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dezembro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 de março </a:t>
                      </a:r>
                    </a:p>
                  </a:txBody>
                  <a:tcPr marL="88467" marR="88467"/>
                </a:tc>
                <a:extLst>
                  <a:ext uri="{0D108BD9-81ED-4DB2-BD59-A6C34878D82A}">
                    <a16:rowId xmlns:a16="http://schemas.microsoft.com/office/drawing/2014/main" val="570703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Primavera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 de março</a:t>
                      </a:r>
                    </a:p>
                  </a:txBody>
                  <a:tcPr marL="88467" marR="88467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junho</a:t>
                      </a:r>
                    </a:p>
                  </a:txBody>
                  <a:tcPr marL="88467" marR="88467"/>
                </a:tc>
                <a:extLst>
                  <a:ext uri="{0D108BD9-81ED-4DB2-BD59-A6C34878D82A}">
                    <a16:rowId xmlns:a16="http://schemas.microsoft.com/office/drawing/2014/main" val="39801041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8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9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2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26" tmFilter="0, 0; 0.125,0.2665; 0.25,0.4; 0.375,0.465; 0.5,0.5;  0.625,0.535; 0.75,0.6; 0.875,0.7335; 1,1">
                                          <p:stCondLst>
                                            <p:cond delay="32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" tmFilter="0, 0; 0.125,0.2665; 0.25,0.4; 0.375,0.465; 0.5,0.5;  0.625,0.535; 0.75,0.6; 0.875,0.7335; 1,1">
                                          <p:stCondLst>
                                            <p:cond delay="6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" tmFilter="0, 0; 0.125,0.2665; 0.25,0.4; 0.375,0.465; 0.5,0.5;  0.625,0.535; 0.75,0.6; 0.875,0.7335; 1,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1">
                                          <p:stCondLst>
                                            <p:cond delay="3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" decel="50000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">
                                          <p:stCondLst>
                                            <p:cond delay="64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" decel="50000">
                                          <p:stCondLst>
                                            <p:cond delay="65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" decel="50000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" decel="50000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8"/>
          <p:cNvGrpSpPr/>
          <p:nvPr/>
        </p:nvGrpSpPr>
        <p:grpSpPr>
          <a:xfrm>
            <a:off x="406992" y="-696107"/>
            <a:ext cx="17474015" cy="10706767"/>
            <a:chOff x="0" y="-47625"/>
            <a:chExt cx="815425" cy="499631"/>
          </a:xfrm>
        </p:grpSpPr>
        <p:sp>
          <p:nvSpPr>
            <p:cNvPr id="233" name="Google Shape;233;p18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0" y="-47625"/>
              <a:ext cx="815425" cy="49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9" name="Google Shape;24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96150" y="-230675"/>
            <a:ext cx="5111098" cy="65902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9A34829-E6D0-21B3-0C6A-8D704C885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ESTAÇÕES DO ANO NO HEMISFÉRIO SUL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EF4BE6F-7962-F5F1-25DA-FAD5026A0F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652425"/>
              </p:ext>
            </p:extLst>
          </p:nvPr>
        </p:nvGraphicFramePr>
        <p:xfrm>
          <a:off x="2177369" y="3074893"/>
          <a:ext cx="14404974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1658">
                  <a:extLst>
                    <a:ext uri="{9D8B030D-6E8A-4147-A177-3AD203B41FA5}">
                      <a16:colId xmlns:a16="http://schemas.microsoft.com/office/drawing/2014/main" val="2999093539"/>
                    </a:ext>
                  </a:extLst>
                </a:gridCol>
                <a:gridCol w="4801658">
                  <a:extLst>
                    <a:ext uri="{9D8B030D-6E8A-4147-A177-3AD203B41FA5}">
                      <a16:colId xmlns:a16="http://schemas.microsoft.com/office/drawing/2014/main" val="3611277116"/>
                    </a:ext>
                  </a:extLst>
                </a:gridCol>
                <a:gridCol w="4801658">
                  <a:extLst>
                    <a:ext uri="{9D8B030D-6E8A-4147-A177-3AD203B41FA5}">
                      <a16:colId xmlns:a16="http://schemas.microsoft.com/office/drawing/2014/main" val="1182945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Término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169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Verão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dezembro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 de março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830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Outono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 de março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junho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093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Inverno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junho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setembro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09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Primavera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setembro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 de dezembro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6369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5850" y="5738980"/>
            <a:ext cx="4259850" cy="5490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00475" y="-720170"/>
            <a:ext cx="4259850" cy="54902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3CB8C1-65FD-DAA3-F725-AC63E822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ORDEM DAS ESTAÇÕES DO ANO - HEMISFÉRIO SUL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CA8E0B11-8383-24AB-C7FB-CB6BAF8833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972725"/>
              </p:ext>
            </p:extLst>
          </p:nvPr>
        </p:nvGraphicFramePr>
        <p:xfrm>
          <a:off x="2178050" y="3024188"/>
          <a:ext cx="13936663" cy="5175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1"/>
          <p:cNvGrpSpPr/>
          <p:nvPr/>
        </p:nvGrpSpPr>
        <p:grpSpPr>
          <a:xfrm>
            <a:off x="406993" y="-720170"/>
            <a:ext cx="17474015" cy="10706767"/>
            <a:chOff x="0" y="-47625"/>
            <a:chExt cx="815425" cy="499631"/>
          </a:xfrm>
        </p:grpSpPr>
        <p:sp>
          <p:nvSpPr>
            <p:cNvPr id="306" name="Google Shape;306;p21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 txBox="1"/>
            <p:nvPr/>
          </p:nvSpPr>
          <p:spPr>
            <a:xfrm>
              <a:off x="0" y="-47625"/>
              <a:ext cx="815425" cy="49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2" name="Google Shape;3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41475" y="5888855"/>
            <a:ext cx="4259850" cy="54902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DB3CE42-FB54-AEE5-F442-F5E14D09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EXISTEM AS ESTAÇÕES DO ANO?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9C7939-FA40-CB14-F08E-1E53A7208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As estações do ano existem em decorrência da inclinação da Terra em relação ao Sol. O movimento de translação, em que a Terra gira ao redor do Sol, é responsável pela existência das estações do ano. Já o movimento de rotação, em que a Terra gira em torno do seu próprio eixo, possibilita a ocorrência do dia e da noite.</a:t>
            </a:r>
          </a:p>
          <a:p>
            <a:pPr marL="0" indent="0">
              <a:buNone/>
            </a:pPr>
            <a:r>
              <a:rPr lang="pt-BR" dirty="0"/>
              <a:t>Como o movimento de translação faz com que a incidência solar seja diferente nos dois hemisférios, as estações do ano não ocorrem de maneira uniforme e simultânea nos Hemisférios Norte e Sul.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22"/>
          <p:cNvGrpSpPr/>
          <p:nvPr/>
        </p:nvGrpSpPr>
        <p:grpSpPr>
          <a:xfrm>
            <a:off x="406992" y="-647981"/>
            <a:ext cx="17474015" cy="10706767"/>
            <a:chOff x="0" y="-47625"/>
            <a:chExt cx="815425" cy="499631"/>
          </a:xfrm>
        </p:grpSpPr>
        <p:sp>
          <p:nvSpPr>
            <p:cNvPr id="330" name="Google Shape;330;p22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 txBox="1"/>
            <p:nvPr/>
          </p:nvSpPr>
          <p:spPr>
            <a:xfrm>
              <a:off x="0" y="-47625"/>
              <a:ext cx="815425" cy="49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1" name="Google Shape;3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93375" y="1628758"/>
            <a:ext cx="4502475" cy="58029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2A5B353-81F7-8936-88AC-A7EB006E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SOLSTÍCIO E EQUINÓCIO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944EB0-8BA3-4E64-1341-2BFA63D4EE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Solstício: fenômeno astronômico que compreende o início do verão e do inverno nos hemisférios. Nesse período, o Sol incide com maior intensidade em um dos hemisférios, o que é conhecido Outono como solstício de verão. Quando um hemisfério está no solstício de verão, o Equinócio outro está no solstício de inverno.</a:t>
            </a:r>
          </a:p>
          <a:p>
            <a:pPr marL="0" indent="0">
              <a:buNone/>
            </a:pPr>
            <a:r>
              <a:rPr lang="pt-BR" dirty="0"/>
              <a:t>Equinócio: fenômeno astronômico que compreende o início da primavera e do outono. Nesse período, que ocorre duas vezes ao ano, os dois hemisférios recebem mesma quantidade de luz. No equinócio, os dias e as noites têm igual duração.</a:t>
            </a:r>
          </a:p>
        </p:txBody>
      </p:sp>
      <p:pic>
        <p:nvPicPr>
          <p:cNvPr id="5" name="Imagem 4" descr="Representação do solstício e do equinócio, acontecimentos que marcam o início das estações do ano.">
            <a:extLst>
              <a:ext uri="{FF2B5EF4-FFF2-40B4-BE49-F238E27FC236}">
                <a16:creationId xmlns:a16="http://schemas.microsoft.com/office/drawing/2014/main" id="{6470EE31-AB36-DBA7-A96F-2917A89BD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198" y="3016318"/>
            <a:ext cx="6667500" cy="42672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23"/>
          <p:cNvGrpSpPr/>
          <p:nvPr/>
        </p:nvGrpSpPr>
        <p:grpSpPr>
          <a:xfrm>
            <a:off x="406992" y="-720170"/>
            <a:ext cx="17474015" cy="10706767"/>
            <a:chOff x="0" y="-47625"/>
            <a:chExt cx="815425" cy="499631"/>
          </a:xfrm>
        </p:grpSpPr>
        <p:sp>
          <p:nvSpPr>
            <p:cNvPr id="354" name="Google Shape;354;p23"/>
            <p:cNvSpPr/>
            <p:nvPr/>
          </p:nvSpPr>
          <p:spPr>
            <a:xfrm>
              <a:off x="0" y="0"/>
              <a:ext cx="815425" cy="452006"/>
            </a:xfrm>
            <a:custGeom>
              <a:avLst/>
              <a:gdLst/>
              <a:ahLst/>
              <a:cxnLst/>
              <a:rect l="l" t="t" r="r" b="b"/>
              <a:pathLst>
                <a:path w="815425" h="452006" extrusionOk="0">
                  <a:moveTo>
                    <a:pt x="13292" y="0"/>
                  </a:moveTo>
                  <a:lnTo>
                    <a:pt x="802133" y="0"/>
                  </a:lnTo>
                  <a:cubicBezTo>
                    <a:pt x="805658" y="0"/>
                    <a:pt x="809039" y="1400"/>
                    <a:pt x="811532" y="3893"/>
                  </a:cubicBezTo>
                  <a:cubicBezTo>
                    <a:pt x="814024" y="6386"/>
                    <a:pt x="815425" y="9766"/>
                    <a:pt x="815425" y="13292"/>
                  </a:cubicBezTo>
                  <a:lnTo>
                    <a:pt x="815425" y="438715"/>
                  </a:lnTo>
                  <a:cubicBezTo>
                    <a:pt x="815425" y="442240"/>
                    <a:pt x="814024" y="445620"/>
                    <a:pt x="811532" y="448113"/>
                  </a:cubicBezTo>
                  <a:cubicBezTo>
                    <a:pt x="809039" y="450606"/>
                    <a:pt x="805658" y="452006"/>
                    <a:pt x="802133" y="452006"/>
                  </a:cubicBezTo>
                  <a:lnTo>
                    <a:pt x="13292" y="452006"/>
                  </a:lnTo>
                  <a:cubicBezTo>
                    <a:pt x="9766" y="452006"/>
                    <a:pt x="6386" y="450606"/>
                    <a:pt x="3893" y="448113"/>
                  </a:cubicBezTo>
                  <a:cubicBezTo>
                    <a:pt x="1400" y="445620"/>
                    <a:pt x="0" y="442240"/>
                    <a:pt x="0" y="438715"/>
                  </a:cubicBezTo>
                  <a:lnTo>
                    <a:pt x="0" y="13292"/>
                  </a:lnTo>
                  <a:cubicBezTo>
                    <a:pt x="0" y="9766"/>
                    <a:pt x="1400" y="6386"/>
                    <a:pt x="3893" y="3893"/>
                  </a:cubicBezTo>
                  <a:cubicBezTo>
                    <a:pt x="6386" y="1400"/>
                    <a:pt x="9766" y="0"/>
                    <a:pt x="13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3"/>
            <p:cNvSpPr txBox="1"/>
            <p:nvPr/>
          </p:nvSpPr>
          <p:spPr>
            <a:xfrm>
              <a:off x="0" y="-47625"/>
              <a:ext cx="815425" cy="49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7AD0C47-04D2-953D-18EB-CD282727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ESTAÇÕES DO ANO NO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4E4961-502B-D5EF-E649-EAF6DD955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estações do ano não ocorrem de maneira precisa em quase todo o brasil. Estado da região Sul, São Paulo, Mato Grosso do Sul, e regiões de Minas Gerais e do Rio de Janeiro apresentam as estações do ano mais bem definidas.</a:t>
            </a:r>
          </a:p>
          <a:p>
            <a:r>
              <a:rPr lang="pt-BR" dirty="0"/>
              <a:t>Na maioria das regiões, há duas estações bem determinadas: uma quente e úmida, outra quente e seca.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04850" y="7306525"/>
            <a:ext cx="3856599" cy="49757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2CC8016-55E8-DF96-A312-5437C1AB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ESTAÇÕES DO ANO NO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F35BB8-0920-FCF8-23CD-F6DC016BD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Verão:</a:t>
            </a:r>
            <a:r>
              <a:rPr lang="pt-BR" dirty="0"/>
              <a:t> durante esse período, ocorrem chuvas de curta duração. Mudanças temporais repentinas também são comuns em decorrência do aumento das temperaturas, que favorece a formação de tempestades seguidas de trovoadas.</a:t>
            </a:r>
          </a:p>
          <a:p>
            <a:r>
              <a:rPr lang="pt-BR" b="1" dirty="0"/>
              <a:t>Outono</a:t>
            </a:r>
            <a:r>
              <a:rPr lang="pt-BR" dirty="0"/>
              <a:t>: nesse período, ocorrem a redução dos índices pluviométricos a queda gradual das temperaturas, especialmente nas regiões Sul, Sudeste e partes da região Centro-Oeste do país. Durante essa estação, as condições meteorológicas variam rapidamente, ocorrendo geadas e nevoeiros na região Sul.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B21C4-6573-6F2E-4211-EDC3096C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ESTAÇÕES DO ANO NO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43D976-8642-F449-3ACA-323C593B8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Inverno: estação em que as temperaturas apresentam queda </a:t>
            </a:r>
            <a:r>
              <a:rPr lang="pt-BR" dirty="0" err="1"/>
              <a:t>emalgumas</a:t>
            </a:r>
            <a:r>
              <a:rPr lang="pt-BR" dirty="0"/>
              <a:t> localidades e elevação em outras. Regiões como Sudeste centro-oeste apresentam, nesse período, o menor índice pluviométrico do ano e baixa umidade do ar. Nas regiões Sudeste e Sul, especialmente, há atuação de frentes frias. Nessa época do ano, é comum a ocorrência de doenças respiratórias, em virtude da baixa umidade do ar.</a:t>
            </a:r>
          </a:p>
          <a:p>
            <a:r>
              <a:rPr lang="pt-BR" dirty="0"/>
              <a:t>Primavera: e um período de mudanças nas temperaturas e aumento gradativo dos índices pluviométricos. Representa a transição entre uma estação muito seca e outra muito úmida. Durante esse período, as regiões Centro-Oeste, Sudeste e Sul apresentam temperaturas que tendem a elevar-se ao longo da estação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02369" y="5043244"/>
            <a:ext cx="3809631" cy="49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99906" y="-431981"/>
            <a:ext cx="3809631" cy="491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F7EFE2-723E-A3AB-E7EF-78E1850A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725" y="1282590"/>
            <a:ext cx="13936823" cy="1573853"/>
          </a:xfrm>
        </p:spPr>
        <p:txBody>
          <a:bodyPr/>
          <a:lstStyle/>
          <a:p>
            <a:r>
              <a:rPr lang="pt-BR" dirty="0"/>
              <a:t>VÍDEOS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2BE61B-CF7D-A75D-B866-918220C04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br>
              <a:rPr lang="pt-BR" dirty="0">
                <a:solidFill>
                  <a:srgbClr val="EEEEEE"/>
                </a:solidFill>
                <a:latin typeface="YouTube Noto"/>
              </a:rPr>
            </a:br>
            <a:endParaRPr lang="pt-BR" dirty="0">
              <a:solidFill>
                <a:srgbClr val="EEEEEE"/>
              </a:solidFill>
              <a:latin typeface="YouTube Noto"/>
            </a:endParaRPr>
          </a:p>
          <a:p>
            <a:pPr fontAlgn="t">
              <a:buNone/>
            </a:pPr>
            <a:br>
              <a:rPr lang="pt-BR" dirty="0"/>
            </a:br>
            <a:endParaRPr lang="pt-BR" dirty="0"/>
          </a:p>
        </p:txBody>
      </p:sp>
      <p:pic>
        <p:nvPicPr>
          <p:cNvPr id="6" name="Mídia Online 5" title="Por que acontecem as estações do ano? - Brasil Escola">
            <a:hlinkClick r:id="" action="ppaction://media"/>
            <a:extLst>
              <a:ext uri="{FF2B5EF4-FFF2-40B4-BE49-F238E27FC236}">
                <a16:creationId xmlns:a16="http://schemas.microsoft.com/office/drawing/2014/main" id="{0B1C7DAC-873C-B457-D593-F5C52D4769E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747487" y="2965535"/>
            <a:ext cx="7658601" cy="6073981"/>
          </a:xfrm>
          <a:prstGeom prst="rect">
            <a:avLst/>
          </a:prstGeom>
        </p:spPr>
      </p:pic>
      <p:pic>
        <p:nvPicPr>
          <p:cNvPr id="7" name="Mídia Online 6" title="Estações do Ano - Brasil Escola">
            <a:hlinkClick r:id="" action="ppaction://media"/>
            <a:extLst>
              <a:ext uri="{FF2B5EF4-FFF2-40B4-BE49-F238E27FC236}">
                <a16:creationId xmlns:a16="http://schemas.microsoft.com/office/drawing/2014/main" id="{1D29124D-DF73-B8C7-F5E8-95B96B486B8C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9452015" y="2835838"/>
            <a:ext cx="7873459" cy="6244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E59"/>
            </a:gs>
            <a:gs pos="100000">
              <a:srgbClr val="FF914D"/>
            </a:gs>
          </a:gsLst>
          <a:lin ang="5400000" scaled="0"/>
        </a:gra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96" y="7379735"/>
            <a:ext cx="4475975" cy="576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1462" y="-2130302"/>
            <a:ext cx="4475975" cy="57609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8AB1A14-696E-AEDA-4974-FB56C827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1A8E9B-E491-BE7F-121A-480FDA95E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. https://mundoeducacao.uol.com.br/geografia/as-estacoes-ano.htm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eria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36</TotalTime>
  <Words>867</Words>
  <Application>Microsoft Office PowerPoint</Application>
  <PresentationFormat>Personalizar</PresentationFormat>
  <Paragraphs>68</Paragraphs>
  <Slides>17</Slides>
  <Notes>16</Notes>
  <HiddenSlides>0</HiddenSlides>
  <MMClips>2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YouTube Noto</vt:lpstr>
      <vt:lpstr>Rockwell</vt:lpstr>
      <vt:lpstr>Galeria</vt:lpstr>
      <vt:lpstr>KARLOS SILVA</vt:lpstr>
      <vt:lpstr>ESTAÇÕES DO ANO</vt:lpstr>
      <vt:lpstr>CARACTERÍSTICAS DAS ESTAÇÕES DO ANO</vt:lpstr>
      <vt:lpstr>Verão </vt:lpstr>
      <vt:lpstr>OUTONO</vt:lpstr>
      <vt:lpstr>INVERNO</vt:lpstr>
      <vt:lpstr>Primavera </vt:lpstr>
      <vt:lpstr>ESTAÇÕES DO ANO NO HEMISFÉRIO NORTE</vt:lpstr>
      <vt:lpstr>ESTAÇÕES DO ANO NO HEMISFÉRIO SUL</vt:lpstr>
      <vt:lpstr>ORDEM DAS ESTAÇÕES DO ANO - HEMISFÉRIO SUL</vt:lpstr>
      <vt:lpstr>POR QUE EXISTEM AS ESTAÇÕES DO ANO?</vt:lpstr>
      <vt:lpstr>SOLSTÍCIO E EQUINÓCIO</vt:lpstr>
      <vt:lpstr>ESTAÇÕES DO ANO NO BRASIL</vt:lpstr>
      <vt:lpstr>ESTAÇÕES DO ANO NO BRASIL</vt:lpstr>
      <vt:lpstr>ESTAÇÕES DO ANO NO BRASIL</vt:lpstr>
      <vt:lpstr>VÍDEOS</vt:lpstr>
      <vt:lpstr>REFERÊNCIA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Usuário Local</cp:lastModifiedBy>
  <cp:revision>7</cp:revision>
  <dcterms:modified xsi:type="dcterms:W3CDTF">2026-04-02T20:08:47Z</dcterms:modified>
</cp:coreProperties>
</file>